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000" b="1">
                <a:solidFill>
                  <a:srgbClr val="4287F5"/>
                </a:solidFill>
              </a:defRPr>
            </a:pPr>
            <a:r>
              <a:t>RoomersAround Rome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2004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>
                <a:solidFill>
                  <a:srgbClr val="9B59B6"/>
                </a:solidFill>
              </a:defRPr>
            </a:pPr>
            <a:r>
              <a:t>Property Rental Platform with Community Focus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3891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212121"/>
                </a:solidFill>
              </a:defRPr>
            </a:pPr>
            <a:r>
              <a:t>Connecting Property Seekers &amp; Owners in the Eternal City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94360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505050"/>
                </a:solidFill>
              </a:defRPr>
            </a:pPr>
            <a:r>
              <a:t>Presented by: Dolly Mathur |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428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The 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371600"/>
            <a:ext cx="7315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1800"/>
              </a:spcBef>
              <a:defRPr sz="2400">
                <a:solidFill>
                  <a:srgbClr val="212121"/>
                </a:solidFill>
              </a:defRPr>
            </a:pPr>
            <a:r>
              <a:t>Finding quality rental properties in Rome is challenging and time-consuming</a:t>
            </a:r>
          </a:p>
          <a:p>
            <a:pPr>
              <a:spcBef>
                <a:spcPts val="1800"/>
              </a:spcBef>
              <a:defRPr sz="2400">
                <a:solidFill>
                  <a:srgbClr val="212121"/>
                </a:solidFill>
              </a:defRPr>
            </a:pPr>
            <a:r>
              <a:t>Lack of trust between property seekers and owners</a:t>
            </a:r>
          </a:p>
          <a:p>
            <a:pPr>
              <a:spcBef>
                <a:spcPts val="1800"/>
              </a:spcBef>
              <a:defRPr sz="2400">
                <a:solidFill>
                  <a:srgbClr val="212121"/>
                </a:solidFill>
              </a:defRPr>
            </a:pPr>
            <a:r>
              <a:t>Limited community engagement in existing rental platforms</a:t>
            </a:r>
          </a:p>
          <a:p>
            <a:pPr>
              <a:spcBef>
                <a:spcPts val="1800"/>
              </a:spcBef>
              <a:defRPr sz="2400">
                <a:solidFill>
                  <a:srgbClr val="212121"/>
                </a:solidFill>
              </a:defRPr>
            </a:pPr>
            <a:r>
              <a:t>Difficulty in verifying property authenticity and owner credibility</a:t>
            </a:r>
          </a:p>
          <a:p>
            <a:pPr>
              <a:spcBef>
                <a:spcPts val="1800"/>
              </a:spcBef>
              <a:defRPr sz="2400">
                <a:solidFill>
                  <a:srgbClr val="212121"/>
                </a:solidFill>
              </a:defRPr>
            </a:pPr>
            <a:r>
              <a:t>Language barriers for international students and expats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428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Our Solution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371600"/>
            <a:ext cx="7315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>
                <a:solidFill>
                  <a:srgbClr val="212121"/>
                </a:solidFill>
              </a:defRPr>
            </a:pPr>
            <a:r>
              <a:t>RoomersAround Rome is a comprehensive property rental platform that creates a trusted community ecosystem connecting property seekers with verified owners in Rome.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017520"/>
            <a:ext cx="73152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1500"/>
              </a:spcBef>
              <a:defRPr sz="2000" b="1">
                <a:solidFill>
                  <a:srgbClr val="4287F5"/>
                </a:solidFill>
              </a:defRPr>
            </a:pPr>
            <a:r>
              <a:t>Verified Listings:</a:t>
            </a:r>
          </a:p>
          <a:p>
            <a:pPr lvl="1">
              <a:defRPr sz="1800">
                <a:solidFill>
                  <a:srgbClr val="212121"/>
                </a:solidFill>
              </a:defRPr>
            </a:pPr>
            <a:r>
              <a:t>All properties undergo authentication checks</a:t>
            </a:r>
          </a:p>
          <a:p>
            <a:pPr>
              <a:spcBef>
                <a:spcPts val="1500"/>
              </a:spcBef>
              <a:defRPr sz="2000" b="1">
                <a:solidFill>
                  <a:srgbClr val="4287F5"/>
                </a:solidFill>
              </a:defRPr>
            </a:pPr>
            <a:r>
              <a:t>Community Reviews:</a:t>
            </a:r>
          </a:p>
          <a:p>
            <a:pPr lvl="1">
              <a:defRPr sz="1800">
                <a:solidFill>
                  <a:srgbClr val="212121"/>
                </a:solidFill>
              </a:defRPr>
            </a:pPr>
            <a:r>
              <a:t>Transparent rating system for properties and users</a:t>
            </a:r>
          </a:p>
          <a:p>
            <a:pPr>
              <a:spcBef>
                <a:spcPts val="1500"/>
              </a:spcBef>
              <a:defRPr sz="2000" b="1">
                <a:solidFill>
                  <a:srgbClr val="4287F5"/>
                </a:solidFill>
              </a:defRPr>
            </a:pPr>
            <a:r>
              <a:t>Cultural Integration:</a:t>
            </a:r>
          </a:p>
          <a:p>
            <a:pPr lvl="1">
              <a:defRPr sz="1800">
                <a:solidFill>
                  <a:srgbClr val="212121"/>
                </a:solidFill>
              </a:defRPr>
            </a:pPr>
            <a:r>
              <a:t>Multilingual support and local area guides</a:t>
            </a:r>
          </a:p>
          <a:p>
            <a:pPr>
              <a:spcBef>
                <a:spcPts val="1500"/>
              </a:spcBef>
              <a:defRPr sz="2000" b="1">
                <a:solidFill>
                  <a:srgbClr val="4287F5"/>
                </a:solidFill>
              </a:defRPr>
            </a:pPr>
            <a:r>
              <a:t>Smart Matching:</a:t>
            </a:r>
          </a:p>
          <a:p>
            <a:pPr lvl="1">
              <a:defRPr sz="1800">
                <a:solidFill>
                  <a:srgbClr val="212121"/>
                </a:solidFill>
              </a:defRPr>
            </a:pPr>
            <a:r>
              <a:t>AI-powered recommendations based on preferences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428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Key Features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188720"/>
            <a:ext cx="4114800" cy="1097280"/>
          </a:xfrm>
          <a:prstGeom prst="rect">
            <a:avLst/>
          </a:prstGeom>
          <a:solidFill>
            <a:srgbClr val="F0F2F5"/>
          </a:solidFill>
          <a:ln w="25400">
            <a:solidFill>
              <a:srgbClr val="4287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325880"/>
            <a:ext cx="3657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4287F5"/>
                </a:solidFill>
              </a:defRPr>
            </a:pPr>
            <a:r>
              <a:t>Advanced Search &amp; Filters</a:t>
            </a:r>
          </a:p>
          <a:p>
            <a:pPr>
              <a:defRPr sz="1400">
                <a:solidFill>
                  <a:srgbClr val="212121"/>
                </a:solidFill>
              </a:defRPr>
            </a:pPr>
            <a:r>
              <a:t>Location, price, amenities, availability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2468880"/>
            <a:ext cx="4114800" cy="1097280"/>
          </a:xfrm>
          <a:prstGeom prst="rect">
            <a:avLst/>
          </a:prstGeom>
          <a:solidFill>
            <a:srgbClr val="F0F2F5"/>
          </a:solidFill>
          <a:ln w="25400">
            <a:solidFill>
              <a:srgbClr val="4287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606040"/>
            <a:ext cx="3657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4287F5"/>
                </a:solidFill>
              </a:defRPr>
            </a:pPr>
            <a:r>
              <a:t>Virtual Property Tours</a:t>
            </a:r>
          </a:p>
          <a:p>
            <a:pPr>
              <a:defRPr sz="1400">
                <a:solidFill>
                  <a:srgbClr val="212121"/>
                </a:solidFill>
              </a:defRPr>
            </a:pPr>
            <a:r>
              <a:t>360° views and video walkthroughs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3749039"/>
            <a:ext cx="4114800" cy="1097280"/>
          </a:xfrm>
          <a:prstGeom prst="rect">
            <a:avLst/>
          </a:prstGeom>
          <a:solidFill>
            <a:srgbClr val="F0F2F5"/>
          </a:solidFill>
          <a:ln w="25400">
            <a:solidFill>
              <a:srgbClr val="4287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3886200"/>
            <a:ext cx="3657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4287F5"/>
                </a:solidFill>
              </a:defRPr>
            </a:pPr>
            <a:r>
              <a:t>Secure Messaging</a:t>
            </a:r>
          </a:p>
          <a:p>
            <a:pPr>
              <a:defRPr sz="1400">
                <a:solidFill>
                  <a:srgbClr val="212121"/>
                </a:solidFill>
              </a:defRPr>
            </a:pPr>
            <a:r>
              <a:t>In-app communication between parties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5029200"/>
            <a:ext cx="4114800" cy="1097280"/>
          </a:xfrm>
          <a:prstGeom prst="rect">
            <a:avLst/>
          </a:prstGeom>
          <a:solidFill>
            <a:srgbClr val="F0F2F5"/>
          </a:solidFill>
          <a:ln w="25400">
            <a:solidFill>
              <a:srgbClr val="4287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5166360"/>
            <a:ext cx="3657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4287F5"/>
                </a:solidFill>
              </a:defRPr>
            </a:pPr>
            <a:r>
              <a:t>Document Management</a:t>
            </a:r>
          </a:p>
          <a:p>
            <a:pPr>
              <a:defRPr sz="1400">
                <a:solidFill>
                  <a:srgbClr val="212121"/>
                </a:solidFill>
              </a:defRPr>
            </a:pPr>
            <a:r>
              <a:t>Digital contracts and paperwork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754880" y="1188720"/>
            <a:ext cx="4114800" cy="1097280"/>
          </a:xfrm>
          <a:prstGeom prst="rect">
            <a:avLst/>
          </a:prstGeom>
          <a:solidFill>
            <a:srgbClr val="F0F2F5"/>
          </a:solidFill>
          <a:ln w="25400">
            <a:solidFill>
              <a:srgbClr val="4287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937760" y="1325880"/>
            <a:ext cx="3657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4287F5"/>
                </a:solidFill>
              </a:defRPr>
            </a:pPr>
            <a:r>
              <a:t>Payment Integration</a:t>
            </a:r>
          </a:p>
          <a:p>
            <a:pPr>
              <a:defRPr sz="1400">
                <a:solidFill>
                  <a:srgbClr val="212121"/>
                </a:solidFill>
              </a:defRPr>
            </a:pPr>
            <a:r>
              <a:t>Secure online rent payments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754880" y="2468880"/>
            <a:ext cx="4114800" cy="1097280"/>
          </a:xfrm>
          <a:prstGeom prst="rect">
            <a:avLst/>
          </a:prstGeom>
          <a:solidFill>
            <a:srgbClr val="F0F2F5"/>
          </a:solidFill>
          <a:ln w="25400">
            <a:solidFill>
              <a:srgbClr val="4287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937760" y="2606040"/>
            <a:ext cx="3657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4287F5"/>
                </a:solidFill>
              </a:defRPr>
            </a:pPr>
            <a:r>
              <a:t>Community Forum</a:t>
            </a:r>
          </a:p>
          <a:p>
            <a:pPr>
              <a:defRPr sz="1400">
                <a:solidFill>
                  <a:srgbClr val="212121"/>
                </a:solidFill>
              </a:defRPr>
            </a:pPr>
            <a:r>
              <a:t>Connect with fellow renters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754880" y="3749039"/>
            <a:ext cx="4114800" cy="1097280"/>
          </a:xfrm>
          <a:prstGeom prst="rect">
            <a:avLst/>
          </a:prstGeom>
          <a:solidFill>
            <a:srgbClr val="F0F2F5"/>
          </a:solidFill>
          <a:ln w="25400">
            <a:solidFill>
              <a:srgbClr val="4287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937760" y="3886200"/>
            <a:ext cx="3657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4287F5"/>
                </a:solidFill>
              </a:defRPr>
            </a:pPr>
            <a:r>
              <a:t>Local Insights</a:t>
            </a:r>
          </a:p>
          <a:p>
            <a:pPr>
              <a:defRPr sz="1400">
                <a:solidFill>
                  <a:srgbClr val="212121"/>
                </a:solidFill>
              </a:defRPr>
            </a:pPr>
            <a:r>
              <a:t>Neighborhood guides and tips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754880" y="5029200"/>
            <a:ext cx="4114800" cy="1097280"/>
          </a:xfrm>
          <a:prstGeom prst="rect">
            <a:avLst/>
          </a:prstGeom>
          <a:solidFill>
            <a:srgbClr val="F0F2F5"/>
          </a:solidFill>
          <a:ln w="25400">
            <a:solidFill>
              <a:srgbClr val="4287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937760" y="5166360"/>
            <a:ext cx="3657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4287F5"/>
                </a:solidFill>
              </a:defRPr>
            </a:pPr>
            <a:r>
              <a:t>Favorites &amp; Alerts</a:t>
            </a:r>
          </a:p>
          <a:p>
            <a:pPr>
              <a:defRPr sz="1400">
                <a:solidFill>
                  <a:srgbClr val="212121"/>
                </a:solidFill>
              </a:defRPr>
            </a:pPr>
            <a:r>
              <a:t>Save properties and get notifications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428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Technology Stack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4287F5"/>
                </a:solidFill>
              </a:defRPr>
            </a:pPr>
            <a:r>
              <a:t>Frontend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0" y="1188720"/>
            <a:ext cx="5486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212121"/>
                </a:solidFill>
              </a:defRPr>
            </a:pPr>
            <a:r>
              <a:t>• React Native</a:t>
            </a:r>
          </a:p>
          <a:p>
            <a:pPr>
              <a:defRPr sz="1600">
                <a:solidFill>
                  <a:srgbClr val="212121"/>
                </a:solidFill>
              </a:defRPr>
            </a:pPr>
            <a:r>
              <a:t>• Redux for state management</a:t>
            </a:r>
          </a:p>
          <a:p>
            <a:pPr>
              <a:defRPr sz="1600">
                <a:solidFill>
                  <a:srgbClr val="212121"/>
                </a:solidFill>
              </a:defRPr>
            </a:pPr>
            <a:r>
              <a:t>• Tailwind CSS for styling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19456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4287F5"/>
                </a:solidFill>
              </a:defRPr>
            </a:pPr>
            <a:r>
              <a:t>Backend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0" y="2194560"/>
            <a:ext cx="5486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212121"/>
                </a:solidFill>
              </a:defRPr>
            </a:pPr>
            <a:r>
              <a:t>• Node.js with Express.js</a:t>
            </a:r>
          </a:p>
          <a:p>
            <a:pPr>
              <a:defRPr sz="1600">
                <a:solidFill>
                  <a:srgbClr val="212121"/>
                </a:solidFill>
              </a:defRPr>
            </a:pPr>
            <a:r>
              <a:t>• RESTful API architecture</a:t>
            </a:r>
          </a:p>
          <a:p>
            <a:pPr>
              <a:defRPr sz="1600">
                <a:solidFill>
                  <a:srgbClr val="212121"/>
                </a:solidFill>
              </a:defRPr>
            </a:pPr>
            <a:r>
              <a:t>• JWT authentication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20040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4287F5"/>
                </a:solidFill>
              </a:defRPr>
            </a:pPr>
            <a:r>
              <a:t>Database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0" y="3200400"/>
            <a:ext cx="5486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212121"/>
                </a:solidFill>
              </a:defRPr>
            </a:pPr>
            <a:r>
              <a:t>• MongoDB for data storage</a:t>
            </a:r>
          </a:p>
          <a:p>
            <a:pPr>
              <a:defRPr sz="1600">
                <a:solidFill>
                  <a:srgbClr val="212121"/>
                </a:solidFill>
              </a:defRPr>
            </a:pPr>
            <a:r>
              <a:t>• Redis for caching</a:t>
            </a:r>
          </a:p>
          <a:p>
            <a:pPr>
              <a:defRPr sz="1600">
                <a:solidFill>
                  <a:srgbClr val="212121"/>
                </a:solidFill>
              </a:defRPr>
            </a:pPr>
            <a:r>
              <a:t>• AWS S3 for media files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420624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4287F5"/>
                </a:solidFill>
              </a:defRPr>
            </a:pPr>
            <a:r>
              <a:t>Mobile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0" y="4206240"/>
            <a:ext cx="5486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212121"/>
                </a:solidFill>
              </a:defRPr>
            </a:pPr>
            <a:r>
              <a:t>• iOS &amp; Android native support</a:t>
            </a:r>
          </a:p>
          <a:p>
            <a:pPr>
              <a:defRPr sz="1600">
                <a:solidFill>
                  <a:srgbClr val="212121"/>
                </a:solidFill>
              </a:defRPr>
            </a:pPr>
            <a:r>
              <a:t>• Push notifications</a:t>
            </a:r>
          </a:p>
          <a:p>
            <a:pPr>
              <a:defRPr sz="1600">
                <a:solidFill>
                  <a:srgbClr val="212121"/>
                </a:solidFill>
              </a:defRPr>
            </a:pPr>
            <a:r>
              <a:t>• Geolocation services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521208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4287F5"/>
                </a:solidFill>
              </a:defRPr>
            </a:pPr>
            <a:r>
              <a:t>Infrastructure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0" y="5212080"/>
            <a:ext cx="5486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212121"/>
                </a:solidFill>
              </a:defRPr>
            </a:pPr>
            <a:r>
              <a:t>• AWS Cloud hosting</a:t>
            </a:r>
          </a:p>
          <a:p>
            <a:pPr>
              <a:defRPr sz="1600">
                <a:solidFill>
                  <a:srgbClr val="212121"/>
                </a:solidFill>
              </a:defRPr>
            </a:pPr>
            <a:r>
              <a:t>• CI/CD with GitHub Actions</a:t>
            </a:r>
          </a:p>
          <a:p>
            <a:pPr>
              <a:defRPr sz="1600">
                <a:solidFill>
                  <a:srgbClr val="212121"/>
                </a:solidFill>
              </a:defRPr>
            </a:pPr>
            <a:r>
              <a:t>• Docker containerization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428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Mobile App - Home Screen</a:t>
            </a:r>
          </a:p>
        </p:txBody>
      </p:sp>
      <p:pic>
        <p:nvPicPr>
          <p:cNvPr id="5" name="Picture 4" descr="mockup_ho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0" y="1188720"/>
            <a:ext cx="3086100" cy="5486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371600"/>
            <a:ext cx="2103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Features:</a:t>
            </a:r>
          </a:p>
          <a:p/>
          <a:p/>
          <a:p>
            <a:pPr>
              <a:spcBef>
                <a:spcPts val="800"/>
              </a:spcBef>
              <a:defRPr sz="1800">
                <a:solidFill>
                  <a:srgbClr val="212121"/>
                </a:solidFill>
              </a:defRPr>
            </a:pPr>
            <a:r>
              <a:t>• Smart search bar</a:t>
            </a:r>
          </a:p>
          <a:p>
            <a:pPr>
              <a:spcBef>
                <a:spcPts val="800"/>
              </a:spcBef>
              <a:defRPr sz="1800">
                <a:solidFill>
                  <a:srgbClr val="212121"/>
                </a:solidFill>
              </a:defRPr>
            </a:pPr>
            <a:r>
              <a:t>• Quick filters</a:t>
            </a:r>
          </a:p>
          <a:p>
            <a:pPr>
              <a:spcBef>
                <a:spcPts val="800"/>
              </a:spcBef>
              <a:defRPr sz="1800">
                <a:solidFill>
                  <a:srgbClr val="212121"/>
                </a:solidFill>
              </a:defRPr>
            </a:pPr>
            <a:r>
              <a:t>• Property cards with key info</a:t>
            </a:r>
          </a:p>
          <a:p>
            <a:pPr>
              <a:spcBef>
                <a:spcPts val="800"/>
              </a:spcBef>
              <a:defRPr sz="1800">
                <a:solidFill>
                  <a:srgbClr val="212121"/>
                </a:solidFill>
              </a:defRPr>
            </a:pPr>
            <a:r>
              <a:t>• Image previews</a:t>
            </a:r>
          </a:p>
          <a:p>
            <a:pPr>
              <a:spcBef>
                <a:spcPts val="800"/>
              </a:spcBef>
              <a:defRPr sz="1800">
                <a:solidFill>
                  <a:srgbClr val="212121"/>
                </a:solidFill>
              </a:defRPr>
            </a:pPr>
            <a:r>
              <a:t>• Instant access to listings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428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Mobile App - Property Listings</a:t>
            </a:r>
          </a:p>
        </p:txBody>
      </p:sp>
      <p:pic>
        <p:nvPicPr>
          <p:cNvPr id="5" name="Picture 4" descr="mockup_listing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0" y="1188720"/>
            <a:ext cx="3086100" cy="5486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371600"/>
            <a:ext cx="2103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Features:</a:t>
            </a:r>
          </a:p>
          <a:p/>
          <a:p/>
          <a:p>
            <a:pPr>
              <a:spcBef>
                <a:spcPts val="800"/>
              </a:spcBef>
              <a:defRPr sz="1800">
                <a:solidFill>
                  <a:srgbClr val="212121"/>
                </a:solidFill>
              </a:defRPr>
            </a:pPr>
            <a:r>
              <a:t>• List view of properties</a:t>
            </a:r>
          </a:p>
          <a:p>
            <a:pPr>
              <a:spcBef>
                <a:spcPts val="800"/>
              </a:spcBef>
              <a:defRPr sz="1800">
                <a:solidFill>
                  <a:srgbClr val="212121"/>
                </a:solidFill>
              </a:defRPr>
            </a:pPr>
            <a:r>
              <a:t>• Thumbnail previews</a:t>
            </a:r>
          </a:p>
          <a:p>
            <a:pPr>
              <a:spcBef>
                <a:spcPts val="800"/>
              </a:spcBef>
              <a:defRPr sz="1800">
                <a:solidFill>
                  <a:srgbClr val="212121"/>
                </a:solidFill>
              </a:defRPr>
            </a:pPr>
            <a:r>
              <a:t>• Key property details</a:t>
            </a:r>
          </a:p>
          <a:p>
            <a:pPr>
              <a:spcBef>
                <a:spcPts val="800"/>
              </a:spcBef>
              <a:defRPr sz="1800">
                <a:solidFill>
                  <a:srgbClr val="212121"/>
                </a:solidFill>
              </a:defRPr>
            </a:pPr>
            <a:r>
              <a:t>• Pricing information</a:t>
            </a:r>
          </a:p>
          <a:p>
            <a:pPr>
              <a:spcBef>
                <a:spcPts val="800"/>
              </a:spcBef>
              <a:defRPr sz="1800">
                <a:solidFill>
                  <a:srgbClr val="212121"/>
                </a:solidFill>
              </a:defRPr>
            </a:pPr>
            <a:r>
              <a:t>• Verification badges</a:t>
            </a:r>
          </a:p>
          <a:p>
            <a:pPr>
              <a:spcBef>
                <a:spcPts val="800"/>
              </a:spcBef>
              <a:defRPr sz="1800">
                <a:solidFill>
                  <a:srgbClr val="212121"/>
                </a:solidFill>
              </a:defRPr>
            </a:pPr>
            <a:r>
              <a:t>• Rating indicators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428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Mobile App - Property Details</a:t>
            </a:r>
          </a:p>
        </p:txBody>
      </p:sp>
      <p:pic>
        <p:nvPicPr>
          <p:cNvPr id="5" name="Picture 4" descr="mockup_detail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0" y="1188720"/>
            <a:ext cx="3086100" cy="5486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371600"/>
            <a:ext cx="2103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Features:</a:t>
            </a:r>
          </a:p>
          <a:p/>
          <a:p/>
          <a:p>
            <a:pPr>
              <a:spcBef>
                <a:spcPts val="600"/>
              </a:spcBef>
              <a:defRPr sz="1800">
                <a:solidFill>
                  <a:srgbClr val="212121"/>
                </a:solidFill>
              </a:defRPr>
            </a:pPr>
            <a:r>
              <a:t>• Photo gallery</a:t>
            </a:r>
          </a:p>
          <a:p>
            <a:pPr>
              <a:spcBef>
                <a:spcPts val="600"/>
              </a:spcBef>
              <a:defRPr sz="1800">
                <a:solidFill>
                  <a:srgbClr val="212121"/>
                </a:solidFill>
              </a:defRPr>
            </a:pPr>
            <a:r>
              <a:t>• Full property details</a:t>
            </a:r>
          </a:p>
          <a:p>
            <a:pPr>
              <a:spcBef>
                <a:spcPts val="600"/>
              </a:spcBef>
              <a:defRPr sz="1800">
                <a:solidFill>
                  <a:srgbClr val="212121"/>
                </a:solidFill>
              </a:defRPr>
            </a:pPr>
            <a:r>
              <a:t>• Room specifications</a:t>
            </a:r>
          </a:p>
          <a:p>
            <a:pPr>
              <a:spcBef>
                <a:spcPts val="600"/>
              </a:spcBef>
              <a:defRPr sz="1800">
                <a:solidFill>
                  <a:srgbClr val="212121"/>
                </a:solidFill>
              </a:defRPr>
            </a:pPr>
            <a:r>
              <a:t>• Amenities list</a:t>
            </a:r>
          </a:p>
          <a:p>
            <a:pPr>
              <a:spcBef>
                <a:spcPts val="600"/>
              </a:spcBef>
              <a:defRPr sz="1800">
                <a:solidFill>
                  <a:srgbClr val="212121"/>
                </a:solidFill>
              </a:defRPr>
            </a:pPr>
            <a:r>
              <a:t>• Neighborhood info</a:t>
            </a:r>
          </a:p>
          <a:p>
            <a:pPr>
              <a:spcBef>
                <a:spcPts val="600"/>
              </a:spcBef>
              <a:defRPr sz="1800">
                <a:solidFill>
                  <a:srgbClr val="212121"/>
                </a:solidFill>
              </a:defRPr>
            </a:pPr>
            <a:r>
              <a:t>• Contact owner button</a:t>
            </a:r>
          </a:p>
          <a:p>
            <a:pPr>
              <a:spcBef>
                <a:spcPts val="600"/>
              </a:spcBef>
              <a:defRPr sz="1800">
                <a:solidFill>
                  <a:srgbClr val="212121"/>
                </a:solidFill>
              </a:defRPr>
            </a:pPr>
            <a:r>
              <a:t>• Save to favorites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428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Mobile App - User Profile</a:t>
            </a:r>
          </a:p>
        </p:txBody>
      </p:sp>
      <p:pic>
        <p:nvPicPr>
          <p:cNvPr id="5" name="Picture 4" descr="mockup_profi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0" y="1188720"/>
            <a:ext cx="3086100" cy="5486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371600"/>
            <a:ext cx="2103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Features:</a:t>
            </a:r>
          </a:p>
          <a:p/>
          <a:p/>
          <a:p>
            <a:pPr>
              <a:spcBef>
                <a:spcPts val="600"/>
              </a:spcBef>
              <a:defRPr sz="1800">
                <a:solidFill>
                  <a:srgbClr val="212121"/>
                </a:solidFill>
              </a:defRPr>
            </a:pPr>
            <a:r>
              <a:t>• User profile</a:t>
            </a:r>
          </a:p>
          <a:p>
            <a:pPr>
              <a:spcBef>
                <a:spcPts val="600"/>
              </a:spcBef>
              <a:defRPr sz="1800">
                <a:solidFill>
                  <a:srgbClr val="212121"/>
                </a:solidFill>
              </a:defRPr>
            </a:pPr>
            <a:r>
              <a:t>• Activity statistics</a:t>
            </a:r>
          </a:p>
          <a:p>
            <a:pPr>
              <a:spcBef>
                <a:spcPts val="600"/>
              </a:spcBef>
              <a:defRPr sz="1800">
                <a:solidFill>
                  <a:srgbClr val="212121"/>
                </a:solidFill>
              </a:defRPr>
            </a:pPr>
            <a:r>
              <a:t>• My listings</a:t>
            </a:r>
          </a:p>
          <a:p>
            <a:pPr>
              <a:spcBef>
                <a:spcPts val="600"/>
              </a:spcBef>
              <a:defRPr sz="1800">
                <a:solidFill>
                  <a:srgbClr val="212121"/>
                </a:solidFill>
              </a:defRPr>
            </a:pPr>
            <a:r>
              <a:t>• Messages inbox</a:t>
            </a:r>
          </a:p>
          <a:p>
            <a:pPr>
              <a:spcBef>
                <a:spcPts val="600"/>
              </a:spcBef>
              <a:defRPr sz="1800">
                <a:solidFill>
                  <a:srgbClr val="212121"/>
                </a:solidFill>
              </a:defRPr>
            </a:pPr>
            <a:r>
              <a:t>• Saved favorites</a:t>
            </a:r>
          </a:p>
          <a:p>
            <a:pPr>
              <a:spcBef>
                <a:spcPts val="600"/>
              </a:spcBef>
              <a:defRPr sz="1800">
                <a:solidFill>
                  <a:srgbClr val="212121"/>
                </a:solidFill>
              </a:defRPr>
            </a:pPr>
            <a:r>
              <a:t>• Account settings</a:t>
            </a:r>
          </a:p>
          <a:p>
            <a:pPr>
              <a:spcBef>
                <a:spcPts val="600"/>
              </a:spcBef>
              <a:defRPr sz="1800">
                <a:solidFill>
                  <a:srgbClr val="212121"/>
                </a:solidFill>
              </a:defRPr>
            </a:pPr>
            <a:r>
              <a:t>• Help &amp; support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428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Mobile App - Booking Flow</a:t>
            </a:r>
          </a:p>
        </p:txBody>
      </p:sp>
      <p:pic>
        <p:nvPicPr>
          <p:cNvPr id="5" name="Picture 4" descr="mockup_book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0" y="1188720"/>
            <a:ext cx="3086100" cy="5486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371600"/>
            <a:ext cx="2103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Features:</a:t>
            </a:r>
          </a:p>
          <a:p/>
          <a:p/>
          <a:p>
            <a:pPr>
              <a:spcBef>
                <a:spcPts val="600"/>
              </a:spcBef>
              <a:defRPr sz="1800">
                <a:solidFill>
                  <a:srgbClr val="212121"/>
                </a:solidFill>
              </a:defRPr>
            </a:pPr>
            <a:r>
              <a:t>• Booking request form</a:t>
            </a:r>
          </a:p>
          <a:p>
            <a:pPr>
              <a:spcBef>
                <a:spcPts val="600"/>
              </a:spcBef>
              <a:defRPr sz="1800">
                <a:solidFill>
                  <a:srgbClr val="212121"/>
                </a:solidFill>
              </a:defRPr>
            </a:pPr>
            <a:r>
              <a:t>• Date selection</a:t>
            </a:r>
          </a:p>
          <a:p>
            <a:pPr>
              <a:spcBef>
                <a:spcPts val="600"/>
              </a:spcBef>
              <a:defRPr sz="1800">
                <a:solidFill>
                  <a:srgbClr val="212121"/>
                </a:solidFill>
              </a:defRPr>
            </a:pPr>
            <a:r>
              <a:t>• Duration picker</a:t>
            </a:r>
          </a:p>
          <a:p>
            <a:pPr>
              <a:spcBef>
                <a:spcPts val="600"/>
              </a:spcBef>
              <a:defRPr sz="1800">
                <a:solidFill>
                  <a:srgbClr val="212121"/>
                </a:solidFill>
              </a:defRPr>
            </a:pPr>
            <a:r>
              <a:t>• Cost breakdown</a:t>
            </a:r>
          </a:p>
          <a:p>
            <a:pPr>
              <a:spcBef>
                <a:spcPts val="600"/>
              </a:spcBef>
              <a:defRPr sz="1800">
                <a:solidFill>
                  <a:srgbClr val="212121"/>
                </a:solidFill>
              </a:defRPr>
            </a:pPr>
            <a:r>
              <a:t>• Service fee display</a:t>
            </a:r>
          </a:p>
          <a:p>
            <a:pPr>
              <a:spcBef>
                <a:spcPts val="600"/>
              </a:spcBef>
              <a:defRPr sz="1800">
                <a:solidFill>
                  <a:srgbClr val="212121"/>
                </a:solidFill>
              </a:defRPr>
            </a:pPr>
            <a:r>
              <a:t>• Total calculation</a:t>
            </a:r>
          </a:p>
          <a:p>
            <a:pPr>
              <a:spcBef>
                <a:spcPts val="600"/>
              </a:spcBef>
              <a:defRPr sz="1800">
                <a:solidFill>
                  <a:srgbClr val="212121"/>
                </a:solidFill>
              </a:defRPr>
            </a:pPr>
            <a:r>
              <a:t>• Submit request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428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Future Roadmap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8229600" cy="1097280"/>
          </a:xfrm>
          <a:prstGeom prst="rect">
            <a:avLst/>
          </a:prstGeom>
          <a:solidFill>
            <a:srgbClr val="F0F2F5"/>
          </a:solidFill>
          <a:ln w="38100">
            <a:solidFill>
              <a:srgbClr val="9B59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280160"/>
            <a:ext cx="7772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9B59B6"/>
                </a:solidFill>
              </a:defRPr>
            </a:pPr>
            <a:r>
              <a:t>Phase 1: Q1 2025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600200"/>
            <a:ext cx="7772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212121"/>
                </a:solidFill>
              </a:defRPr>
            </a:pPr>
            <a:r>
              <a:t>Launch MVP for Rome • Basic search and listing features • User authentication and profiles • Property verification system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468880"/>
            <a:ext cx="8229600" cy="1097280"/>
          </a:xfrm>
          <a:prstGeom prst="rect">
            <a:avLst/>
          </a:prstGeom>
          <a:solidFill>
            <a:srgbClr val="F0F2F5"/>
          </a:solidFill>
          <a:ln w="38100">
            <a:solidFill>
              <a:srgbClr val="9B59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2560320"/>
            <a:ext cx="7772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9B59B6"/>
                </a:solidFill>
              </a:defRPr>
            </a:pPr>
            <a:r>
              <a:t>Phase 2: Q2 2025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880360"/>
            <a:ext cx="7772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212121"/>
                </a:solidFill>
              </a:defRPr>
            </a:pPr>
            <a:r>
              <a:t>AI-powered recommendations • Virtual property tours • Integrated payment system • Mobile app optimization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3749039"/>
            <a:ext cx="8229600" cy="1097280"/>
          </a:xfrm>
          <a:prstGeom prst="rect">
            <a:avLst/>
          </a:prstGeom>
          <a:solidFill>
            <a:srgbClr val="F0F2F5"/>
          </a:solidFill>
          <a:ln w="38100">
            <a:solidFill>
              <a:srgbClr val="9B59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3840479"/>
            <a:ext cx="7772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9B59B6"/>
                </a:solidFill>
              </a:defRPr>
            </a:pPr>
            <a:r>
              <a:t>Phase 3: Q3 2025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4160520"/>
            <a:ext cx="7772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212121"/>
                </a:solidFill>
              </a:defRPr>
            </a:pPr>
            <a:r>
              <a:t>Community forum and events • Multi-language support (Italian, English, Spanish) • Advanced analytics dashboard • Expand to other Italian cities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5029200"/>
            <a:ext cx="8229600" cy="1097280"/>
          </a:xfrm>
          <a:prstGeom prst="rect">
            <a:avLst/>
          </a:prstGeom>
          <a:solidFill>
            <a:srgbClr val="F0F2F5"/>
          </a:solidFill>
          <a:ln w="38100">
            <a:solidFill>
              <a:srgbClr val="9B59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5120640"/>
            <a:ext cx="7772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9B59B6"/>
                </a:solidFill>
              </a:defRPr>
            </a:pPr>
            <a:r>
              <a:t>Phase 4: Q4 2025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5440680"/>
            <a:ext cx="7772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212121"/>
                </a:solidFill>
              </a:defRPr>
            </a:pPr>
            <a:r>
              <a:t>AR property viewing • Blockchain-based contracts • Partner integrations (utilities, moving services) • European expansion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428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Market Opportunity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371600"/>
            <a:ext cx="3931920" cy="1371600"/>
          </a:xfrm>
          <a:prstGeom prst="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600200"/>
            <a:ext cx="39319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50,000+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194560"/>
            <a:ext cx="3931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</a:defRPr>
            </a:pPr>
            <a:r>
              <a:t>Students in Rome</a:t>
            </a:r>
          </a:p>
        </p:txBody>
      </p:sp>
      <p:sp>
        <p:nvSpPr>
          <p:cNvPr id="8" name="Rectangle 7"/>
          <p:cNvSpPr/>
          <p:nvPr/>
        </p:nvSpPr>
        <p:spPr>
          <a:xfrm>
            <a:off x="4754880" y="1371600"/>
            <a:ext cx="3931920" cy="1371600"/>
          </a:xfrm>
          <a:prstGeom prst="rect">
            <a:avLst/>
          </a:prstGeom>
          <a:solidFill>
            <a:srgbClr val="428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54880" y="1600200"/>
            <a:ext cx="39319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€15B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0" y="2194560"/>
            <a:ext cx="3931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</a:defRPr>
            </a:pPr>
            <a:r>
              <a:t>Italian rental market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3200400"/>
            <a:ext cx="3931920" cy="1371600"/>
          </a:xfrm>
          <a:prstGeom prst="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3429000"/>
            <a:ext cx="39319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30%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4023360"/>
            <a:ext cx="3931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</a:defRPr>
            </a:pPr>
            <a:r>
              <a:t>Growth in expat population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754880" y="3200400"/>
            <a:ext cx="3931920" cy="1371600"/>
          </a:xfrm>
          <a:prstGeom prst="rect">
            <a:avLst/>
          </a:prstGeom>
          <a:solidFill>
            <a:srgbClr val="428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54880" y="3429000"/>
            <a:ext cx="39319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2.8M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54880" y="4023360"/>
            <a:ext cx="3931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</a:defRPr>
            </a:pPr>
            <a:r>
              <a:t>Rome population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5029200"/>
            <a:ext cx="7680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4287F5"/>
                </a:solidFill>
              </a:defRPr>
            </a:pPr>
            <a:r>
              <a:t>Key Insight:</a:t>
            </a:r>
          </a:p>
          <a:p>
            <a:pPr>
              <a:spcBef>
                <a:spcPts val="1000"/>
              </a:spcBef>
              <a:defRPr sz="1800">
                <a:solidFill>
                  <a:srgbClr val="212121"/>
                </a:solidFill>
              </a:defRPr>
            </a:pPr>
            <a:r>
              <a:t>Rome attracts thousands of students and young professionals annually, creating a consistent demand for quality rental housing. RoomersAround Rome bridges the gap between supply and demand with a trusted, community-driven platform.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428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200" b="1">
                <a:solidFill>
                  <a:srgbClr val="FFFFFF"/>
                </a:solidFill>
              </a:defRPr>
            </a:pPr>
            <a:r>
              <a:t>Thank You!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4747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FFFFFF"/>
                </a:solidFill>
              </a:defRPr>
            </a:pPr>
            <a:r>
              <a:t>Let's Build the Future of Property Rental Together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029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FFFFFF"/>
                </a:solidFill>
              </a:defRPr>
            </a:pPr>
            <a:r>
              <a:t>RoomersAround Rome</a:t>
            </a:r>
          </a:p>
          <a:p>
            <a:pPr algn="ctr">
              <a:spcBef>
                <a:spcPts val="1000"/>
              </a:spcBef>
              <a:defRPr sz="2000">
                <a:solidFill>
                  <a:srgbClr val="FFFFFF"/>
                </a:solidFill>
              </a:defRPr>
            </a:pPr>
            <a:r>
              <a:t>Presented by: Dolly Mathur</a:t>
            </a:r>
          </a:p>
          <a:p>
            <a:pPr algn="ctr">
              <a:spcBef>
                <a:spcPts val="500"/>
              </a:spcBef>
              <a:defRPr sz="2000">
                <a:solidFill>
                  <a:srgbClr val="FFFFFF"/>
                </a:solidFill>
              </a:defRPr>
            </a:pPr>
            <a:r>
              <a:t>2025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